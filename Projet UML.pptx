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4" r:id="rId7"/>
    <p:sldId id="262" r:id="rId8"/>
    <p:sldId id="266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222FC-1634-8901-1AB5-2CD70976E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8E9577-DCBE-1C10-B4F9-0A225714D4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40F3C-FDCA-0A4F-5CDC-8B242AD17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9F255-1B30-48D7-BB67-B2D5516CDA1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28AA0-C1DD-6932-EED1-C1FBFCB9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AE675-1FCE-A172-919F-8B9191723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09824-E485-44F3-8E62-66DBCDA73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581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0B6FC-2122-BCB3-8446-57241B60B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EC84F-0327-B4D5-E09F-316ADA3A1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DDEC6-94DC-26BC-EA17-F000296E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9F255-1B30-48D7-BB67-B2D5516CDA1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AE202-287D-FB41-0B3D-BFF33CC9C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32F34-67DB-F1AD-6672-6A67C1D49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09824-E485-44F3-8E62-66DBCDA73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123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EA447-1B3D-EF49-35B1-4868C5463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D5AD5-14A0-AFFB-F2A2-3CEA8C610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C6864-5187-4F21-73EA-7E5C9D745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9F255-1B30-48D7-BB67-B2D5516CDA1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FA085-FC25-1017-D66D-1D6D6A5FE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9E7F8-B938-E922-4598-5948B0B9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09824-E485-44F3-8E62-66DBCDA73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191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6D44C-554C-05BB-F900-76D08BD02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7CC4D-6B5F-A495-9E69-926ED0573B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F802A-60AA-E128-98CA-FACFF68AA4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7EE466-A40F-338D-B368-12C9A5B4E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9F255-1B30-48D7-BB67-B2D5516CDA1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7B617-4578-4D6E-3DE5-337233A6F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D6242-7069-19B5-5D55-C1CDC4180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09824-E485-44F3-8E62-66DBCDA73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687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5E90E-748D-D730-4404-B802DFE31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4812E-C4E9-E7E3-8A13-765F49D96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D57226-DE36-B9A1-F56F-2AC434434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0EE0A5-A9B4-C883-C8A9-9FDE9C2E28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F9E786-9262-D125-E60A-6ADA15379E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591AD4-2D31-A5D6-9D16-84E2220F2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9F255-1B30-48D7-BB67-B2D5516CDA1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90CBA2-8727-5E99-E902-44540E9AC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015F14-7756-B9A5-7EA5-F96293C21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09824-E485-44F3-8E62-66DBCDA73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296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DB33A-D944-0497-8E50-4DCB16C9A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DA0BC-613A-0C0B-1B9E-6B77BA5E5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9F255-1B30-48D7-BB67-B2D5516CDA1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8267E1-88C7-FDE8-9381-B0C2A5A92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89F3BA-D201-7881-C067-BD561AD21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09824-E485-44F3-8E62-66DBCDA73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915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F27AE1-FE56-C982-44EC-907EF2604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9F255-1B30-48D7-BB67-B2D5516CDA1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A3B56C-3422-644F-6488-12F9323CC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99288-DCD6-A0DF-BF0E-A36E7A449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09824-E485-44F3-8E62-66DBCDA73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62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4C036-85D1-9904-D0B9-21853150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DA9EF-E8A9-CD24-BB60-333F523D5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AA970-3F5B-AB94-E76E-67D5032B5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E2B62D-E81C-EB63-09AD-99CDFFEE1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9F255-1B30-48D7-BB67-B2D5516CDA1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1B0417-55B0-A581-BC0F-1F3E78973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9B0677-F288-0C2B-3F71-53060B37B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09824-E485-44F3-8E62-66DBCDA73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047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ABC39-F386-F517-E485-F3519EB15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743C27-DED1-6F6F-1D7B-4B84DD4A3C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608A42-4954-96A6-2CF4-8E7B934B4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942AF-F939-2DF9-C426-777CA54F1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9F255-1B30-48D7-BB67-B2D5516CDA1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79EA6-4403-F4BE-2248-EE9D05A95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015A6-5E55-7C2F-BADA-ED32F3D95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09824-E485-44F3-8E62-66DBCDA73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321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0778-9194-79C3-8E86-785E30F16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5B636B-5A22-15AD-A966-C8E4A2BF5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E6C78-3287-2F97-A457-F2A46B35E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9F255-1B30-48D7-BB67-B2D5516CDA1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F8A74-CF3F-43F5-D2D8-3128F8865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43720-002A-A1A1-9D8A-890D9A51A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09824-E485-44F3-8E62-66DBCDA73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846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0A22D9-F117-04D6-94E8-1CB04C9D83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C068AE-4602-A2DE-3CE3-CD31850A19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856DF-33E4-C26D-DDA3-2D6880D32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9F255-1B30-48D7-BB67-B2D5516CDA1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11385-7D1C-1981-15C2-64A55BA9B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0FBB5-CB74-731D-6BFF-4CBDAD42B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09824-E485-44F3-8E62-66DBCDA73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37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C07F8A-9099-4FBF-6BAC-3F43A2383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8DC4C-FFFE-561B-2143-71DB87CB6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A630B-893B-AEC6-FB72-C0579ECC68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39F255-1B30-48D7-BB67-B2D5516CDA1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00507-4B75-24D9-6246-A47A046D65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210E2-DC00-EC08-EBE7-EF2EDF3737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C09824-E485-44F3-8E62-66DBCDA73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959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5A7B1D-F64E-C3FA-4C08-814481FFE3AD}"/>
              </a:ext>
            </a:extLst>
          </p:cNvPr>
          <p:cNvSpPr txBox="1"/>
          <p:nvPr/>
        </p:nvSpPr>
        <p:spPr>
          <a:xfrm>
            <a:off x="3628104" y="521109"/>
            <a:ext cx="4316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LA FROMAGERIE DIGICHEESE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50EDDC-F229-1B13-BC92-62262029F2ED}"/>
              </a:ext>
            </a:extLst>
          </p:cNvPr>
          <p:cNvSpPr txBox="1"/>
          <p:nvPr/>
        </p:nvSpPr>
        <p:spPr>
          <a:xfrm>
            <a:off x="368709" y="1470545"/>
            <a:ext cx="1145458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000000"/>
                </a:solidFill>
              </a:rPr>
              <a:t>Déterminer les acteurs et décrire leurs rôles respectifs.</a:t>
            </a:r>
          </a:p>
          <a:p>
            <a:endParaRPr lang="fr-FR" b="1" dirty="0">
              <a:solidFill>
                <a:srgbClr val="000000"/>
              </a:solidFill>
            </a:endParaRPr>
          </a:p>
          <a:p>
            <a:r>
              <a:rPr lang="fr-FR" dirty="0">
                <a:solidFill>
                  <a:srgbClr val="000000"/>
                </a:solidFill>
              </a:rPr>
              <a:t>1. </a:t>
            </a:r>
            <a:r>
              <a:rPr lang="fr-FR" sz="1800" b="0" i="0" u="none" strike="noStrike" baseline="0" dirty="0">
                <a:solidFill>
                  <a:srgbClr val="000000"/>
                </a:solidFill>
              </a:rPr>
              <a:t>Client finale: </a:t>
            </a:r>
            <a:r>
              <a:rPr lang="fr-FR" dirty="0">
                <a:solidFill>
                  <a:srgbClr val="000000"/>
                </a:solidFill>
              </a:rPr>
              <a:t>qui passe la commande, payer le frais de port et suive la procédure de l’envoie colis</a:t>
            </a:r>
          </a:p>
          <a:p>
            <a:r>
              <a:rPr lang="fr-FR" sz="1800" b="0" i="0" u="none" strike="noStrike" baseline="0" dirty="0">
                <a:solidFill>
                  <a:srgbClr val="000000"/>
                </a:solidFill>
              </a:rPr>
              <a:t>2. </a:t>
            </a:r>
            <a:r>
              <a:rPr lang="fr-FR" dirty="0">
                <a:solidFill>
                  <a:srgbClr val="000000"/>
                </a:solidFill>
              </a:rPr>
              <a:t>Opérateur colis: 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0000"/>
                </a:solidFill>
              </a:rPr>
              <a:t>gère les informations du client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0000"/>
                </a:solidFill>
              </a:rPr>
              <a:t>Enregistre les commandes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0000"/>
                </a:solidFill>
              </a:rPr>
              <a:t>Gère les goodies avec commande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0000"/>
                </a:solidFill>
              </a:rPr>
              <a:t>Valide les conditionnements comme poids total (emballage + article), tarif d’affranchissement, la choix d’</a:t>
            </a:r>
            <a:r>
              <a:rPr lang="fr-FR" dirty="0" err="1">
                <a:solidFill>
                  <a:srgbClr val="000000"/>
                </a:solidFill>
              </a:rPr>
              <a:t>amballage</a:t>
            </a:r>
            <a:endParaRPr lang="fr-FR" dirty="0">
              <a:solidFill>
                <a:srgbClr val="000000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0000"/>
                </a:solidFill>
              </a:rPr>
              <a:t>Envoyer les emails personnalisés aux clients, 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0000"/>
                </a:solidFill>
              </a:rPr>
              <a:t>Visualiser les statistiques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0000"/>
                </a:solidFill>
              </a:rPr>
              <a:t>Générer les impressions (liste client, liste d’articles, liste de commande…)</a:t>
            </a:r>
          </a:p>
          <a:p>
            <a:r>
              <a:rPr lang="fr-FR" dirty="0">
                <a:solidFill>
                  <a:srgbClr val="000000"/>
                </a:solidFill>
              </a:rPr>
              <a:t>3. Opérateur stock: qui gère les stocks de goodies, les inventaires, les emplacements</a:t>
            </a:r>
          </a:p>
          <a:p>
            <a:r>
              <a:rPr lang="fr-FR" dirty="0">
                <a:solidFill>
                  <a:srgbClr val="000000"/>
                </a:solidFill>
              </a:rPr>
              <a:t>4. La Poste:  qui est responsable d’ générer numéro de suivi, indiquer les tarifs postaux envoyer et de suivre de colis</a:t>
            </a:r>
          </a:p>
          <a:p>
            <a:r>
              <a:rPr lang="fr-FR" dirty="0">
                <a:solidFill>
                  <a:srgbClr val="000000"/>
                </a:solidFill>
              </a:rPr>
              <a:t>5. L’administrateur: qui gère les paramétrages du traitement du colis, ex: gère les critères pour choisir le meilleur emballage, s’occupe des données de relation entre poids/colis/vignette/affranchissement pour calculer le tarif d’affranchissement, le modèle emballage</a:t>
            </a:r>
          </a:p>
          <a:p>
            <a:pPr marL="342900" indent="-342900">
              <a:buAutoNum type="arabicPeriod"/>
            </a:pPr>
            <a:endParaRPr lang="fr-FR" sz="1800" b="0" i="0" u="none" strike="noStrike" baseline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175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7A17AF-66B6-E4BA-67B9-5E25FB69F2A1}"/>
              </a:ext>
            </a:extLst>
          </p:cNvPr>
          <p:cNvSpPr txBox="1"/>
          <p:nvPr/>
        </p:nvSpPr>
        <p:spPr>
          <a:xfrm>
            <a:off x="3539613" y="107027"/>
            <a:ext cx="4316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LA FROMAGERIE DIGICHEESE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3E019-0CF1-59CB-569E-7EFF8DCBF63B}"/>
              </a:ext>
            </a:extLst>
          </p:cNvPr>
          <p:cNvSpPr txBox="1"/>
          <p:nvPr/>
        </p:nvSpPr>
        <p:spPr>
          <a:xfrm>
            <a:off x="148172" y="614859"/>
            <a:ext cx="11661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Réaliser un schéma global de l’architecture du système (acteurs et grandes fonctionnalités) avec les interactions des acteurs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6BA304-D30A-08E2-AA5B-3FEF5BC98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742" y="1030358"/>
            <a:ext cx="7986452" cy="565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194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8E9518-F4C0-6051-8FBF-C1BD9CAE3703}"/>
              </a:ext>
            </a:extLst>
          </p:cNvPr>
          <p:cNvSpPr txBox="1"/>
          <p:nvPr/>
        </p:nvSpPr>
        <p:spPr>
          <a:xfrm>
            <a:off x="3539613" y="0"/>
            <a:ext cx="4316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LA FROMAGERIE DIGICHEESE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972F5B-C060-F081-BEF5-CC01B2A67451}"/>
              </a:ext>
            </a:extLst>
          </p:cNvPr>
          <p:cNvSpPr txBox="1"/>
          <p:nvPr/>
        </p:nvSpPr>
        <p:spPr>
          <a:xfrm>
            <a:off x="0" y="388149"/>
            <a:ext cx="12005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i="0" u="none" strike="noStrike" baseline="0" dirty="0" err="1">
                <a:solidFill>
                  <a:srgbClr val="000000"/>
                </a:solidFill>
              </a:rPr>
              <a:t>Repr�senter</a:t>
            </a:r>
            <a:r>
              <a:rPr lang="fr-FR" sz="1800" b="0" i="0" u="none" strike="noStrike" baseline="0" dirty="0">
                <a:solidFill>
                  <a:srgbClr val="000000"/>
                </a:solidFill>
              </a:rPr>
              <a:t> les acteurs et le </a:t>
            </a:r>
            <a:r>
              <a:rPr lang="fr-FR" sz="1800" b="0" i="0" u="none" strike="noStrike" baseline="0" dirty="0" err="1">
                <a:solidFill>
                  <a:srgbClr val="000000"/>
                </a:solidFill>
              </a:rPr>
              <a:t>syst�me</a:t>
            </a:r>
            <a:r>
              <a:rPr lang="fr-FR" sz="1800" b="0" i="0" u="none" strike="noStrike" baseline="0" dirty="0">
                <a:solidFill>
                  <a:srgbClr val="000000"/>
                </a:solidFill>
              </a:rPr>
              <a:t> sous forme de diagrammes de </a:t>
            </a:r>
            <a:r>
              <a:rPr lang="fr-FR" sz="1800" b="0" i="0" u="none" strike="noStrike" baseline="0" dirty="0" err="1">
                <a:solidFill>
                  <a:srgbClr val="000000"/>
                </a:solidFill>
              </a:rPr>
              <a:t>UCs</a:t>
            </a:r>
            <a:r>
              <a:rPr lang="fr-FR" sz="1800" b="0" i="0" u="none" strike="noStrike" baseline="0" dirty="0">
                <a:solidFill>
                  <a:srgbClr val="000000"/>
                </a:solidFill>
              </a:rPr>
              <a:t>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9AA00F0-6F48-D4E7-A766-8AFE58029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69" y="849814"/>
            <a:ext cx="9503607" cy="608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660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5209FE-A031-A256-4066-6DFD8CE33B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742348"/>
              </p:ext>
            </p:extLst>
          </p:nvPr>
        </p:nvGraphicFramePr>
        <p:xfrm>
          <a:off x="885585" y="583184"/>
          <a:ext cx="8128000" cy="238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40138738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Gestion de </a:t>
                      </a:r>
                      <a:r>
                        <a:rPr lang="en-US" sz="1800" dirty="0" err="1"/>
                        <a:t>colis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265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Acteur</a:t>
                      </a:r>
                      <a:r>
                        <a:rPr lang="en-US" dirty="0"/>
                        <a:t>: Client final, </a:t>
                      </a:r>
                      <a:r>
                        <a:rPr lang="en-US" dirty="0" err="1"/>
                        <a:t>opérateur</a:t>
                      </a:r>
                      <a:r>
                        <a:rPr lang="en-US" dirty="0"/>
                        <a:t> stock, </a:t>
                      </a:r>
                      <a:r>
                        <a:rPr lang="en-US" dirty="0" err="1"/>
                        <a:t>opérateur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colis</a:t>
                      </a:r>
                      <a:r>
                        <a:rPr lang="en-US" dirty="0"/>
                        <a:t>, la Poste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467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Objectif: </a:t>
                      </a:r>
                      <a:r>
                        <a:rPr lang="en-US" dirty="0" err="1"/>
                        <a:t>Traiter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une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demande</a:t>
                      </a:r>
                      <a:r>
                        <a:rPr lang="en-US" dirty="0"/>
                        <a:t> de goodie </a:t>
                      </a:r>
                      <a:r>
                        <a:rPr lang="en-US" dirty="0" err="1"/>
                        <a:t>reçu</a:t>
                      </a:r>
                      <a:r>
                        <a:rPr lang="en-US" dirty="0"/>
                        <a:t> et </a:t>
                      </a:r>
                      <a:r>
                        <a:rPr lang="en-US" dirty="0" err="1"/>
                        <a:t>expédier</a:t>
                      </a:r>
                      <a:r>
                        <a:rPr lang="en-US" dirty="0"/>
                        <a:t> le </a:t>
                      </a:r>
                      <a:r>
                        <a:rPr lang="en-US" dirty="0" err="1"/>
                        <a:t>colis</a:t>
                      </a:r>
                      <a:r>
                        <a:rPr lang="en-US" dirty="0"/>
                        <a:t> par la Poste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422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Prérequis</a:t>
                      </a:r>
                      <a:r>
                        <a:rPr lang="en-US" dirty="0"/>
                        <a:t>: Un client envoi </a:t>
                      </a:r>
                      <a:r>
                        <a:rPr lang="en-US" dirty="0" err="1"/>
                        <a:t>une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demande</a:t>
                      </a:r>
                      <a:r>
                        <a:rPr lang="en-US" dirty="0"/>
                        <a:t> des goodies avec le point et le </a:t>
                      </a:r>
                      <a:r>
                        <a:rPr lang="en-US" dirty="0" err="1"/>
                        <a:t>chèque</a:t>
                      </a:r>
                      <a:r>
                        <a:rPr lang="en-US" dirty="0"/>
                        <a:t> aux frais de 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952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Postconditions: le Client final est </a:t>
                      </a:r>
                      <a:r>
                        <a:rPr lang="en-US" dirty="0" err="1"/>
                        <a:t>informé</a:t>
                      </a:r>
                      <a:r>
                        <a:rPr lang="en-US" dirty="0"/>
                        <a:t> par mail </a:t>
                      </a:r>
                      <a:r>
                        <a:rPr lang="en-US" dirty="0" err="1"/>
                        <a:t>que</a:t>
                      </a:r>
                      <a:r>
                        <a:rPr lang="en-US" dirty="0"/>
                        <a:t> le goodie est </a:t>
                      </a:r>
                      <a:r>
                        <a:rPr lang="en-US" dirty="0" err="1"/>
                        <a:t>expédié</a:t>
                      </a:r>
                      <a:r>
                        <a:rPr lang="en-US" dirty="0"/>
                        <a:t> et il </a:t>
                      </a:r>
                      <a:r>
                        <a:rPr lang="en-US" dirty="0" err="1"/>
                        <a:t>recevera</a:t>
                      </a:r>
                      <a:r>
                        <a:rPr lang="en-US" dirty="0"/>
                        <a:t> le </a:t>
                      </a:r>
                      <a:r>
                        <a:rPr lang="en-US" dirty="0" err="1"/>
                        <a:t>colis</a:t>
                      </a:r>
                      <a:r>
                        <a:rPr lang="en-US" dirty="0"/>
                        <a:t> par la Poste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015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60FCF35-3B4A-16B4-C219-0CD0C8E29A73}"/>
              </a:ext>
            </a:extLst>
          </p:cNvPr>
          <p:cNvSpPr txBox="1"/>
          <p:nvPr/>
        </p:nvSpPr>
        <p:spPr>
          <a:xfrm>
            <a:off x="885585" y="3094149"/>
            <a:ext cx="1042083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err="1"/>
              <a:t>L’oprateur</a:t>
            </a:r>
            <a:r>
              <a:rPr lang="en-US" dirty="0"/>
              <a:t> </a:t>
            </a:r>
            <a:r>
              <a:rPr lang="en-US" dirty="0" err="1"/>
              <a:t>colis</a:t>
            </a:r>
            <a:r>
              <a:rPr lang="en-US" dirty="0"/>
              <a:t> a </a:t>
            </a:r>
            <a:r>
              <a:rPr lang="en-US" dirty="0" err="1"/>
              <a:t>reçu</a:t>
            </a:r>
            <a:r>
              <a:rPr lang="en-US" dirty="0"/>
              <a:t> le </a:t>
            </a:r>
            <a:r>
              <a:rPr lang="en-US" dirty="0" err="1"/>
              <a:t>courrier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 </a:t>
            </a:r>
            <a:r>
              <a:rPr lang="en-US" dirty="0" err="1"/>
              <a:t>L’opérateur</a:t>
            </a:r>
            <a:r>
              <a:rPr lang="en-US" dirty="0"/>
              <a:t> </a:t>
            </a:r>
            <a:r>
              <a:rPr lang="en-US" dirty="0" err="1"/>
              <a:t>colis</a:t>
            </a:r>
            <a:r>
              <a:rPr lang="en-US" dirty="0"/>
              <a:t> </a:t>
            </a:r>
            <a:r>
              <a:rPr lang="en-US" dirty="0" err="1"/>
              <a:t>accède</a:t>
            </a:r>
            <a:r>
              <a:rPr lang="en-US" dirty="0"/>
              <a:t> au </a:t>
            </a:r>
            <a:r>
              <a:rPr lang="en-US" dirty="0" err="1"/>
              <a:t>système</a:t>
            </a:r>
            <a:r>
              <a:rPr lang="en-US" dirty="0"/>
              <a:t>/app et cheche le client dans la </a:t>
            </a:r>
            <a:r>
              <a:rPr lang="en-US" dirty="0" err="1"/>
              <a:t>liste</a:t>
            </a:r>
            <a:r>
              <a:rPr lang="en-US" dirty="0"/>
              <a:t> du client, </a:t>
            </a:r>
            <a:r>
              <a:rPr lang="en-US" dirty="0" err="1"/>
              <a:t>si</a:t>
            </a:r>
            <a:endParaRPr lang="en-US" dirty="0"/>
          </a:p>
          <a:p>
            <a:r>
              <a:rPr lang="en-US" dirty="0"/>
              <a:t>        le client </a:t>
            </a:r>
            <a:r>
              <a:rPr lang="en-US" dirty="0" err="1"/>
              <a:t>n’existe</a:t>
            </a:r>
            <a:r>
              <a:rPr lang="en-US" dirty="0"/>
              <a:t> pas, </a:t>
            </a:r>
            <a:r>
              <a:rPr lang="en-US" dirty="0" err="1"/>
              <a:t>l’ajoute</a:t>
            </a:r>
            <a:r>
              <a:rPr lang="en-US" dirty="0"/>
              <a:t> dans la </a:t>
            </a:r>
            <a:r>
              <a:rPr lang="en-US" dirty="0" err="1"/>
              <a:t>liste</a:t>
            </a:r>
            <a:endParaRPr lang="en-US" dirty="0"/>
          </a:p>
          <a:p>
            <a:r>
              <a:rPr lang="en-US" dirty="0"/>
              <a:t>3. </a:t>
            </a:r>
            <a:r>
              <a:rPr lang="en-US" dirty="0" err="1"/>
              <a:t>L’opérateur</a:t>
            </a:r>
            <a:r>
              <a:rPr lang="en-US" dirty="0"/>
              <a:t> </a:t>
            </a:r>
            <a:r>
              <a:rPr lang="en-US" dirty="0" err="1"/>
              <a:t>colis</a:t>
            </a:r>
            <a:r>
              <a:rPr lang="en-US" dirty="0"/>
              <a:t> </a:t>
            </a:r>
            <a:r>
              <a:rPr lang="en-US" dirty="0" err="1"/>
              <a:t>crée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commande</a:t>
            </a:r>
            <a:r>
              <a:rPr lang="en-US" dirty="0"/>
              <a:t> pour le client dans le </a:t>
            </a:r>
            <a:r>
              <a:rPr lang="en-US" dirty="0" err="1"/>
              <a:t>système</a:t>
            </a:r>
            <a:endParaRPr lang="en-US" dirty="0"/>
          </a:p>
          <a:p>
            <a:r>
              <a:rPr lang="en-US" dirty="0"/>
              <a:t>4. </a:t>
            </a:r>
            <a:r>
              <a:rPr lang="en-US" dirty="0" err="1"/>
              <a:t>L’opérateur</a:t>
            </a:r>
            <a:r>
              <a:rPr lang="en-US" dirty="0"/>
              <a:t> </a:t>
            </a:r>
            <a:r>
              <a:rPr lang="en-US" dirty="0" err="1"/>
              <a:t>colis</a:t>
            </a:r>
            <a:r>
              <a:rPr lang="en-US" dirty="0"/>
              <a:t> </a:t>
            </a:r>
            <a:r>
              <a:rPr lang="en-US" dirty="0" err="1"/>
              <a:t>ajoute</a:t>
            </a:r>
            <a:r>
              <a:rPr lang="en-US" dirty="0"/>
              <a:t> le goodie et le </a:t>
            </a:r>
            <a:r>
              <a:rPr lang="en-US" dirty="0" err="1"/>
              <a:t>quantité</a:t>
            </a:r>
            <a:r>
              <a:rPr lang="en-US" dirty="0"/>
              <a:t> dans la </a:t>
            </a:r>
            <a:r>
              <a:rPr lang="en-US" dirty="0" err="1"/>
              <a:t>commande</a:t>
            </a:r>
            <a:endParaRPr lang="en-US" dirty="0"/>
          </a:p>
          <a:p>
            <a:r>
              <a:rPr lang="en-US" dirty="0"/>
              <a:t>5. Le </a:t>
            </a:r>
            <a:r>
              <a:rPr lang="en-US" dirty="0" err="1"/>
              <a:t>système</a:t>
            </a:r>
            <a:r>
              <a:rPr lang="en-US" dirty="0"/>
              <a:t> </a:t>
            </a:r>
            <a:r>
              <a:rPr lang="en-US" dirty="0" err="1"/>
              <a:t>calcule</a:t>
            </a:r>
            <a:r>
              <a:rPr lang="en-US" dirty="0"/>
              <a:t> </a:t>
            </a:r>
            <a:r>
              <a:rPr lang="en-US" dirty="0" err="1"/>
              <a:t>automaticement</a:t>
            </a:r>
            <a:r>
              <a:rPr lang="en-US" dirty="0"/>
              <a:t> le </a:t>
            </a:r>
            <a:r>
              <a:rPr lang="en-US" dirty="0" err="1"/>
              <a:t>poid</a:t>
            </a:r>
            <a:r>
              <a:rPr lang="en-US" dirty="0"/>
              <a:t> total (</a:t>
            </a:r>
            <a:r>
              <a:rPr lang="en-US" dirty="0" err="1"/>
              <a:t>emballage+goodie</a:t>
            </a:r>
            <a:r>
              <a:rPr lang="en-US" dirty="0"/>
              <a:t>), le </a:t>
            </a:r>
            <a:r>
              <a:rPr lang="en-US" dirty="0" err="1"/>
              <a:t>tarif</a:t>
            </a:r>
            <a:r>
              <a:rPr lang="en-US" dirty="0"/>
              <a:t> </a:t>
            </a:r>
            <a:r>
              <a:rPr lang="en-US" dirty="0" err="1"/>
              <a:t>d’affrenchissement</a:t>
            </a:r>
            <a:endParaRPr lang="en-US" dirty="0"/>
          </a:p>
          <a:p>
            <a:r>
              <a:rPr lang="en-US" dirty="0"/>
              <a:t>     et </a:t>
            </a:r>
            <a:r>
              <a:rPr lang="en-US" dirty="0" err="1"/>
              <a:t>séléctioner</a:t>
            </a:r>
            <a:r>
              <a:rPr lang="en-US" dirty="0"/>
              <a:t> le </a:t>
            </a:r>
            <a:r>
              <a:rPr lang="en-US" dirty="0" err="1"/>
              <a:t>meilleur</a:t>
            </a:r>
            <a:r>
              <a:rPr lang="en-US" dirty="0"/>
              <a:t> </a:t>
            </a:r>
            <a:r>
              <a:rPr lang="en-US" dirty="0" err="1"/>
              <a:t>emballage</a:t>
            </a:r>
            <a:endParaRPr lang="en-US" dirty="0"/>
          </a:p>
          <a:p>
            <a:r>
              <a:rPr lang="en-US" dirty="0"/>
              <a:t>6. </a:t>
            </a:r>
            <a:r>
              <a:rPr lang="en-US" dirty="0" err="1"/>
              <a:t>L’opérateur</a:t>
            </a:r>
            <a:r>
              <a:rPr lang="en-US" dirty="0"/>
              <a:t> </a:t>
            </a:r>
            <a:r>
              <a:rPr lang="en-US" dirty="0" err="1"/>
              <a:t>colis</a:t>
            </a:r>
            <a:r>
              <a:rPr lang="en-US" dirty="0"/>
              <a:t> </a:t>
            </a:r>
            <a:r>
              <a:rPr lang="en-US" dirty="0" err="1"/>
              <a:t>valide</a:t>
            </a:r>
            <a:r>
              <a:rPr lang="en-US" dirty="0"/>
              <a:t> les </a:t>
            </a:r>
            <a:r>
              <a:rPr lang="en-US" dirty="0" err="1"/>
              <a:t>conditionnements</a:t>
            </a:r>
            <a:r>
              <a:rPr lang="en-US" dirty="0"/>
              <a:t> (</a:t>
            </a:r>
            <a:r>
              <a:rPr lang="en-US" dirty="0" err="1"/>
              <a:t>calculs</a:t>
            </a:r>
            <a:r>
              <a:rPr lang="en-US" dirty="0"/>
              <a:t> final)</a:t>
            </a:r>
          </a:p>
          <a:p>
            <a:r>
              <a:rPr lang="en-US" dirty="0"/>
              <a:t>7. </a:t>
            </a:r>
            <a:r>
              <a:rPr lang="en-US" dirty="0" err="1"/>
              <a:t>L’opérateur</a:t>
            </a:r>
            <a:r>
              <a:rPr lang="en-US" dirty="0"/>
              <a:t> </a:t>
            </a:r>
            <a:r>
              <a:rPr lang="en-US" dirty="0" err="1"/>
              <a:t>colis</a:t>
            </a:r>
            <a:r>
              <a:rPr lang="en-US" dirty="0"/>
              <a:t> </a:t>
            </a:r>
            <a:r>
              <a:rPr lang="en-US" dirty="0" err="1"/>
              <a:t>expédie</a:t>
            </a:r>
            <a:r>
              <a:rPr lang="en-US" dirty="0"/>
              <a:t> le </a:t>
            </a:r>
            <a:r>
              <a:rPr lang="en-US" dirty="0" err="1"/>
              <a:t>colis</a:t>
            </a:r>
            <a:r>
              <a:rPr lang="en-US" dirty="0"/>
              <a:t> par la Poste et </a:t>
            </a:r>
            <a:r>
              <a:rPr lang="en-US" dirty="0" err="1"/>
              <a:t>enregistrer</a:t>
            </a:r>
            <a:r>
              <a:rPr lang="en-US" dirty="0"/>
              <a:t> le </a:t>
            </a:r>
            <a:r>
              <a:rPr lang="en-US" dirty="0" err="1"/>
              <a:t>numéro</a:t>
            </a:r>
            <a:r>
              <a:rPr lang="en-US" dirty="0"/>
              <a:t> de </a:t>
            </a:r>
            <a:r>
              <a:rPr lang="en-US" dirty="0" err="1"/>
              <a:t>suivi</a:t>
            </a:r>
            <a:r>
              <a:rPr lang="en-US" dirty="0"/>
              <a:t> dans le </a:t>
            </a:r>
            <a:r>
              <a:rPr lang="en-US" dirty="0" err="1"/>
              <a:t>système</a:t>
            </a:r>
            <a:r>
              <a:rPr lang="en-US" dirty="0"/>
              <a:t> pour    </a:t>
            </a:r>
            <a:r>
              <a:rPr lang="en-US" dirty="0" err="1"/>
              <a:t>suivre</a:t>
            </a:r>
            <a:r>
              <a:rPr lang="en-US" dirty="0"/>
              <a:t> le </a:t>
            </a:r>
            <a:r>
              <a:rPr lang="en-US" dirty="0" err="1"/>
              <a:t>mouvement</a:t>
            </a:r>
            <a:r>
              <a:rPr lang="en-US" dirty="0"/>
              <a:t> de </a:t>
            </a:r>
            <a:r>
              <a:rPr lang="en-US" dirty="0" err="1"/>
              <a:t>colis</a:t>
            </a:r>
            <a:endParaRPr lang="en-US" dirty="0"/>
          </a:p>
          <a:p>
            <a:r>
              <a:rPr lang="en-US" dirty="0"/>
              <a:t>8. Le </a:t>
            </a:r>
            <a:r>
              <a:rPr lang="en-US" dirty="0" err="1"/>
              <a:t>système</a:t>
            </a:r>
            <a:r>
              <a:rPr lang="en-US" dirty="0"/>
              <a:t> mise à </a:t>
            </a:r>
            <a:r>
              <a:rPr lang="en-US" dirty="0" err="1"/>
              <a:t>jours</a:t>
            </a:r>
            <a:r>
              <a:rPr lang="en-US" dirty="0"/>
              <a:t> </a:t>
            </a:r>
            <a:r>
              <a:rPr lang="en-US" dirty="0" err="1"/>
              <a:t>l’historisation</a:t>
            </a:r>
            <a:r>
              <a:rPr lang="en-US" dirty="0"/>
              <a:t> de la </a:t>
            </a:r>
            <a:r>
              <a:rPr lang="en-US" dirty="0" err="1"/>
              <a:t>commande</a:t>
            </a:r>
            <a:r>
              <a:rPr lang="en-US" dirty="0"/>
              <a:t> </a:t>
            </a:r>
          </a:p>
          <a:p>
            <a:r>
              <a:rPr lang="en-US" dirty="0"/>
              <a:t>9. </a:t>
            </a:r>
            <a:r>
              <a:rPr lang="en-US" dirty="0" err="1"/>
              <a:t>L’opérateur</a:t>
            </a:r>
            <a:r>
              <a:rPr lang="en-US" dirty="0"/>
              <a:t> stock met à jour la </a:t>
            </a:r>
            <a:r>
              <a:rPr lang="en-US" dirty="0" err="1"/>
              <a:t>liste</a:t>
            </a:r>
            <a:r>
              <a:rPr lang="en-US" dirty="0"/>
              <a:t> des goodies, </a:t>
            </a:r>
            <a:r>
              <a:rPr lang="en-US" dirty="0" err="1"/>
              <a:t>liste</a:t>
            </a:r>
            <a:r>
              <a:rPr lang="en-US" dirty="0"/>
              <a:t> des </a:t>
            </a:r>
            <a:r>
              <a:rPr lang="en-US" dirty="0" err="1"/>
              <a:t>inventaires</a:t>
            </a:r>
            <a:r>
              <a:rPr lang="en-US" dirty="0"/>
              <a:t> et </a:t>
            </a:r>
            <a:r>
              <a:rPr lang="en-US" dirty="0" err="1"/>
              <a:t>leurs</a:t>
            </a:r>
            <a:r>
              <a:rPr lang="en-US" dirty="0"/>
              <a:t> emplacements</a:t>
            </a:r>
          </a:p>
          <a:p>
            <a:r>
              <a:rPr lang="en-US" dirty="0"/>
              <a:t>10. </a:t>
            </a:r>
            <a:r>
              <a:rPr lang="en-US" dirty="0" err="1"/>
              <a:t>L’opérateur</a:t>
            </a:r>
            <a:r>
              <a:rPr lang="en-US" dirty="0"/>
              <a:t> </a:t>
            </a:r>
            <a:r>
              <a:rPr lang="en-US" dirty="0" err="1"/>
              <a:t>colis</a:t>
            </a:r>
            <a:r>
              <a:rPr lang="en-US" dirty="0"/>
              <a:t> </a:t>
            </a:r>
            <a:r>
              <a:rPr lang="en-US" dirty="0" err="1"/>
              <a:t>envoie</a:t>
            </a:r>
            <a:r>
              <a:rPr lang="en-US" dirty="0"/>
              <a:t> un mail au client pour </a:t>
            </a:r>
            <a:r>
              <a:rPr lang="en-US" dirty="0" err="1"/>
              <a:t>l’informer</a:t>
            </a:r>
            <a:r>
              <a:rPr lang="en-US" dirty="0"/>
              <a:t> </a:t>
            </a:r>
            <a:r>
              <a:rPr lang="en-US" dirty="0" err="1"/>
              <a:t>l’éxpédition</a:t>
            </a:r>
            <a:r>
              <a:rPr lang="en-US" dirty="0"/>
              <a:t> du </a:t>
            </a:r>
            <a:r>
              <a:rPr lang="en-US" dirty="0" err="1"/>
              <a:t>colis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E76797-7EEF-FF7E-CA3C-4FA937A3568E}"/>
              </a:ext>
            </a:extLst>
          </p:cNvPr>
          <p:cNvSpPr txBox="1"/>
          <p:nvPr/>
        </p:nvSpPr>
        <p:spPr>
          <a:xfrm>
            <a:off x="660654" y="90487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Décrire (textuellement) le scénario de la gestion des colis: </a:t>
            </a:r>
          </a:p>
        </p:txBody>
      </p:sp>
    </p:spTree>
    <p:extLst>
      <p:ext uri="{BB962C8B-B14F-4D97-AF65-F5344CB8AC3E}">
        <p14:creationId xmlns:p14="http://schemas.microsoft.com/office/powerpoint/2010/main" val="4083315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8EE718-AB08-DBBE-2859-6956AA5B17AB}"/>
              </a:ext>
            </a:extLst>
          </p:cNvPr>
          <p:cNvSpPr txBox="1"/>
          <p:nvPr/>
        </p:nvSpPr>
        <p:spPr>
          <a:xfrm>
            <a:off x="0" y="0"/>
            <a:ext cx="7936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</a:rPr>
              <a:t>R</a:t>
            </a:r>
            <a:r>
              <a:rPr lang="fr-FR" sz="1800" b="0" i="0" u="none" strike="noStrike" baseline="0" dirty="0">
                <a:solidFill>
                  <a:srgbClr val="000000"/>
                </a:solidFill>
              </a:rPr>
              <a:t>epr</a:t>
            </a:r>
            <a:r>
              <a:rPr lang="fr-FR" dirty="0">
                <a:solidFill>
                  <a:srgbClr val="000000"/>
                </a:solidFill>
              </a:rPr>
              <a:t>é</a:t>
            </a:r>
            <a:r>
              <a:rPr lang="fr-FR" sz="1800" b="0" i="0" u="none" strike="noStrike" baseline="0" dirty="0">
                <a:solidFill>
                  <a:srgbClr val="000000"/>
                </a:solidFill>
              </a:rPr>
              <a:t>senter le scénario à l’aide des diagrammes de séquence</a:t>
            </a:r>
            <a:r>
              <a:rPr lang="fr-FR" sz="1800" b="1" i="0" u="none" strike="noStrike" baseline="0" dirty="0">
                <a:solidFill>
                  <a:srgbClr val="000000"/>
                </a:solidFill>
              </a:rPr>
              <a:t>: Part 1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9C2414-EBE2-C4DD-302D-C5BB39B59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6" y="359126"/>
            <a:ext cx="10311204" cy="649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388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368E1A6-6AF1-F468-1991-32914528FFB3}"/>
              </a:ext>
            </a:extLst>
          </p:cNvPr>
          <p:cNvSpPr txBox="1"/>
          <p:nvPr/>
        </p:nvSpPr>
        <p:spPr>
          <a:xfrm>
            <a:off x="0" y="0"/>
            <a:ext cx="7936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</a:rPr>
              <a:t>R</a:t>
            </a:r>
            <a:r>
              <a:rPr lang="fr-FR" sz="1800" b="0" i="0" u="none" strike="noStrike" baseline="0" dirty="0">
                <a:solidFill>
                  <a:srgbClr val="000000"/>
                </a:solidFill>
              </a:rPr>
              <a:t>epr</a:t>
            </a:r>
            <a:r>
              <a:rPr lang="fr-FR" dirty="0">
                <a:solidFill>
                  <a:srgbClr val="000000"/>
                </a:solidFill>
              </a:rPr>
              <a:t>é</a:t>
            </a:r>
            <a:r>
              <a:rPr lang="fr-FR" sz="1800" b="0" i="0" u="none" strike="noStrike" baseline="0" dirty="0">
                <a:solidFill>
                  <a:srgbClr val="000000"/>
                </a:solidFill>
              </a:rPr>
              <a:t>senter le scénario à l’aide des diagrammes de séquence</a:t>
            </a:r>
            <a:r>
              <a:rPr lang="fr-FR" sz="1800" b="1" i="0" u="none" strike="noStrike" baseline="0" dirty="0">
                <a:solidFill>
                  <a:srgbClr val="000000"/>
                </a:solidFill>
              </a:rPr>
              <a:t>: Part 2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F61688-F797-1654-A5FD-3CA32EE4B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352" y="306650"/>
            <a:ext cx="9279652" cy="6551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601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748139B-6316-FE96-9E8A-510C04600561}"/>
              </a:ext>
            </a:extLst>
          </p:cNvPr>
          <p:cNvSpPr txBox="1"/>
          <p:nvPr/>
        </p:nvSpPr>
        <p:spPr>
          <a:xfrm>
            <a:off x="0" y="289483"/>
            <a:ext cx="346557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700" dirty="0">
                <a:solidFill>
                  <a:srgbClr val="000000"/>
                </a:solidFill>
              </a:rPr>
              <a:t>R</a:t>
            </a:r>
            <a:r>
              <a:rPr lang="fr-FR" sz="1700" b="0" i="0" u="none" strike="noStrike" baseline="0" dirty="0">
                <a:solidFill>
                  <a:srgbClr val="000000"/>
                </a:solidFill>
              </a:rPr>
              <a:t>epr</a:t>
            </a:r>
            <a:r>
              <a:rPr lang="fr-FR" sz="1700" dirty="0">
                <a:solidFill>
                  <a:srgbClr val="000000"/>
                </a:solidFill>
              </a:rPr>
              <a:t>é</a:t>
            </a:r>
            <a:r>
              <a:rPr lang="fr-FR" sz="1700" b="0" i="0" u="none" strike="noStrike" baseline="0" dirty="0">
                <a:solidFill>
                  <a:srgbClr val="000000"/>
                </a:solidFill>
              </a:rPr>
              <a:t>senter le scénario à l’aide des diagrammes d’activité: </a:t>
            </a:r>
            <a:r>
              <a:rPr lang="fr-FR" sz="1700" b="1" i="0" u="none" strike="noStrike" baseline="0" dirty="0">
                <a:solidFill>
                  <a:srgbClr val="000000"/>
                </a:solidFill>
              </a:rPr>
              <a:t>Part 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87DEE1-DCF4-FB24-0E93-99E1E9D1F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083" y="0"/>
            <a:ext cx="84707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011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01A70-720B-DEFB-FD4C-292A42186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0FC2560-D2CD-4FCD-7F12-79932C425213}"/>
              </a:ext>
            </a:extLst>
          </p:cNvPr>
          <p:cNvSpPr txBox="1"/>
          <p:nvPr/>
        </p:nvSpPr>
        <p:spPr>
          <a:xfrm>
            <a:off x="0" y="289483"/>
            <a:ext cx="346557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700" dirty="0">
                <a:solidFill>
                  <a:srgbClr val="000000"/>
                </a:solidFill>
              </a:rPr>
              <a:t>R</a:t>
            </a:r>
            <a:r>
              <a:rPr lang="fr-FR" sz="1700" b="0" i="0" u="none" strike="noStrike" baseline="0" dirty="0">
                <a:solidFill>
                  <a:srgbClr val="000000"/>
                </a:solidFill>
              </a:rPr>
              <a:t>epr</a:t>
            </a:r>
            <a:r>
              <a:rPr lang="fr-FR" sz="1700" dirty="0">
                <a:solidFill>
                  <a:srgbClr val="000000"/>
                </a:solidFill>
              </a:rPr>
              <a:t>é</a:t>
            </a:r>
            <a:r>
              <a:rPr lang="fr-FR" sz="1700" b="0" i="0" u="none" strike="noStrike" baseline="0" dirty="0">
                <a:solidFill>
                  <a:srgbClr val="000000"/>
                </a:solidFill>
              </a:rPr>
              <a:t>senter le scénario à l’aide des diagrammes d’activité: </a:t>
            </a:r>
            <a:r>
              <a:rPr lang="fr-FR" sz="1700" b="1" i="0" u="none" strike="noStrike" baseline="0" dirty="0">
                <a:solidFill>
                  <a:srgbClr val="000000"/>
                </a:solidFill>
              </a:rPr>
              <a:t>Part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B6B2AB-CD1C-9937-A50E-ED3D8F846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450" y="0"/>
            <a:ext cx="83368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19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F5208F-A083-6B21-EE6D-1920B0517EF5}"/>
              </a:ext>
            </a:extLst>
          </p:cNvPr>
          <p:cNvSpPr txBox="1"/>
          <p:nvPr/>
        </p:nvSpPr>
        <p:spPr>
          <a:xfrm>
            <a:off x="484632" y="2916936"/>
            <a:ext cx="109270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dirty="0" err="1"/>
              <a:t>Créer</a:t>
            </a:r>
            <a:r>
              <a:rPr lang="en-US" sz="1700" dirty="0"/>
              <a:t> le </a:t>
            </a:r>
            <a:r>
              <a:rPr lang="en-US" sz="1700" dirty="0" err="1"/>
              <a:t>diagramme</a:t>
            </a:r>
            <a:r>
              <a:rPr lang="en-US" sz="1700" dirty="0"/>
              <a:t> de </a:t>
            </a:r>
            <a:r>
              <a:rPr lang="en-US" sz="1700" dirty="0" err="1"/>
              <a:t>classe</a:t>
            </a:r>
            <a:r>
              <a:rPr lang="en-US" sz="1700" dirty="0"/>
              <a:t> </a:t>
            </a:r>
            <a:r>
              <a:rPr lang="en-US" sz="1700" dirty="0" err="1"/>
              <a:t>permettant</a:t>
            </a:r>
            <a:r>
              <a:rPr lang="en-US" sz="1700" dirty="0"/>
              <a:t> de </a:t>
            </a:r>
            <a:r>
              <a:rPr lang="en-US" sz="1700" dirty="0" err="1"/>
              <a:t>réaliser</a:t>
            </a:r>
            <a:r>
              <a:rPr lang="en-US" sz="1700" dirty="0"/>
              <a:t> la </a:t>
            </a:r>
            <a:r>
              <a:rPr lang="en-US" sz="1700" dirty="0" err="1"/>
              <a:t>partie</a:t>
            </a:r>
            <a:r>
              <a:rPr lang="en-US" sz="1700" dirty="0"/>
              <a:t> gestion des </a:t>
            </a:r>
            <a:r>
              <a:rPr lang="en-US" sz="1700" dirty="0" err="1"/>
              <a:t>colis</a:t>
            </a:r>
            <a:r>
              <a:rPr lang="en-US" sz="1700" dirty="0"/>
              <a:t> (</a:t>
            </a:r>
            <a:r>
              <a:rPr lang="en-US" sz="1700" dirty="0" err="1"/>
              <a:t>recueillir</a:t>
            </a:r>
            <a:r>
              <a:rPr lang="en-US" sz="1700" dirty="0"/>
              <a:t> les data </a:t>
            </a:r>
            <a:r>
              <a:rPr lang="en-US" sz="1700" dirty="0" err="1"/>
              <a:t>nécessaires</a:t>
            </a:r>
            <a:r>
              <a:rPr lang="en-US" sz="1700" dirty="0"/>
              <a:t> pour le </a:t>
            </a:r>
            <a:r>
              <a:rPr lang="en-US" sz="1700" dirty="0" err="1"/>
              <a:t>réaliser</a:t>
            </a:r>
            <a:r>
              <a:rPr lang="en-US" sz="1700" dirty="0"/>
              <a:t>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21E986-09D0-FB43-A2A7-8A6DBDE984B0}"/>
              </a:ext>
            </a:extLst>
          </p:cNvPr>
          <p:cNvSpPr txBox="1"/>
          <p:nvPr/>
        </p:nvSpPr>
        <p:spPr>
          <a:xfrm>
            <a:off x="3539613" y="107027"/>
            <a:ext cx="4316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LA FROMAGERIE DIGICHEESE</a:t>
            </a:r>
          </a:p>
        </p:txBody>
      </p:sp>
    </p:spTree>
    <p:extLst>
      <p:ext uri="{BB962C8B-B14F-4D97-AF65-F5344CB8AC3E}">
        <p14:creationId xmlns:p14="http://schemas.microsoft.com/office/powerpoint/2010/main" val="1094825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081F5CF-252D-8B37-F691-5A9CA67AB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04" y="0"/>
            <a:ext cx="10641196" cy="687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898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540</Words>
  <Application>Microsoft Office PowerPoint</Application>
  <PresentationFormat>Widescreen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Hien NGUYEN</dc:creator>
  <cp:lastModifiedBy>Hien NGUYEN</cp:lastModifiedBy>
  <cp:revision>27</cp:revision>
  <dcterms:created xsi:type="dcterms:W3CDTF">2026-01-12T11:34:14Z</dcterms:created>
  <dcterms:modified xsi:type="dcterms:W3CDTF">2026-01-15T00:22:08Z</dcterms:modified>
</cp:coreProperties>
</file>